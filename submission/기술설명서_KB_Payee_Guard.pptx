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제8회 Future Finance AI Challenge · 예선 기술설명서 · 금융 자유주제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 Payee Guard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719072"/>
            <a:ext cx="10872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기반 해외송금 무결성 게이트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2249424"/>
            <a:ext cx="10872216" cy="841248"/>
          </a:xfrm>
          <a:prstGeom prst="roundRect">
            <a:avLst>
              <a:gd name="adj" fmla="val 2174"/>
            </a:avLst>
          </a:prstGeom>
          <a:solidFill>
            <a:srgbClr val="F1F1E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9424"/>
            <a:ext cx="10323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해외송금 신청 시 외국환거래법상 이미 법정 제출되는 계약서를 읽어, 계좌 변경 지시가 계약이 정한 절차를 따랐는지 대조하고 어긋나면 송금을 보류한다.
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제품은 계좌라는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검증한다. 값은 사기범이 통제할 수 있다. 본 과제는 그 값이 온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검증한다 — 경로 규칙은 계약 체결 시점에 잠긴다.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32552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1. 문서 구성과 심사배점 대응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11296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349240"/>
                <a:gridCol w="3310128"/>
                <a:gridCol w="16459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 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— BEC 무역송금 사기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경쟁 지형 — 기존 방어선이 비껴가는 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규제 빈 구간과 도입 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활용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하는가 — 계약서 ↔ 송금 대조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아키텍처 — 층 구조와 처리 흐름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테이블과 판정 축 신호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 기술 스택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 — 추출 정확도 · 탐지율 · 오탐률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측정한 것과 모르는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신뢰성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계획과 실현 가능성 — 단계 · 산출물 · 완료 판정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개발계획 · 실현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64190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2026-08-02 · 저장소 HEAD 9a4167b 기준 · 본 문서의 모든 수치는 저장소 실측 문서에서 인용했으며 이 문서에서 새로 만들지 않았다.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통에 대금 전액이 사라진다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6446520" cy="2331720"/>
          </a:xfrm>
          <a:prstGeom prst="roundRect">
            <a:avLst>
              <a:gd name="adj" fmla="val 784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5943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“회계감사로 거래 은행을 변경했습니다. 새 계좌로 송금 부탁드립니다.”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거래한 담당자 이름으로 오고, 인보이스가 첨부돼 있고, 서명도 늘 쓰던 것이다. EUR 120,000을 송금한다. 서류상 이상이 없어 은행도 기업도 그대로 통과시킨다.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 상대가 연락한다 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“대금이 아직 안 들어왔는데요.”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도메인이 @bauer-gmbh.de 가 아니라 @bauer-gmbh.co 였다. 글자 하나.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3716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2. 피해 규모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27632"/>
          <a:ext cx="4123944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61518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접수 건수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1,600건 (2021~25 상반기)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건당 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대금 전액 — 부분 손실이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회수 가능성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0 — 즉시 인출된다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406640" y="3017520"/>
            <a:ext cx="4123944" cy="685800"/>
          </a:xfrm>
          <a:prstGeom prst="roundRect">
            <a:avLst>
              <a:gd name="adj" fmla="val 2667"/>
            </a:avLst>
          </a:prstGeom>
          <a:solidFill>
            <a:srgbClr val="FDEBEC"/>
          </a:solidFill>
          <a:ln/>
        </p:spPr>
      </p:sp>
      <p:sp>
        <p:nvSpPr>
          <p:cNvPr id="11" name="Shape 8"/>
          <p:cNvSpPr/>
          <p:nvPr/>
        </p:nvSpPr>
        <p:spPr>
          <a:xfrm>
            <a:off x="7406640" y="3017520"/>
            <a:ext cx="32004" cy="68580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2" name="Text 9"/>
          <p:cNvSpPr/>
          <p:nvPr/>
        </p:nvSpPr>
        <p:spPr>
          <a:xfrm>
            <a:off x="7626096" y="30175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피해자는 속은 줄 모른다 — 별도의 사기 판별 앱을 만들면 그 앱을 켜지 않는다.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8368" y="3895344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" y="3895344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시점이 송금 실행 이전이어야 하고, 사용자가 켜지 않아도 동작해야 한다. 회수가 불가능하므로 사후 탐지는 의미가 없고, 피해자가 자신이 속은 줄 모르므로 능동적 조회를 전제한 제품은 호출되지 않는다. 두 제약을 동시에 만족하는 자리는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은행의 송금 신청 처리 흐름 안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047488"/>
            <a:ext cx="10872216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5047488"/>
            <a:ext cx="10323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어려운 케이스 —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사례는 도메인이 위조돼 있어 메일 보안 제품이 잡을 수 있다. 그러나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 메일 계정 자체가 탈취되면 도메인이 진짜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발신 주소도 회신 스레드도 문체도 정상이다. 그리고 사기범은 굳이 다른 나라 계좌를 쓰거나 결제방식을 바꿀 이유가 없다 — 같은 국가에 같은 법인명으로 계좌를 열면 된다. 이때 계좌번호 외에 남는 단서는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지시가 계약서가 정한 경로로 오지 않았다는 사실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접수 통계 · KBS 보도 · KOTRA 무역사기 대응 매뉴얼 (docs/00_조사노트.md §E)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방어선이 전부 비껴가는 지점이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과제는 새로운 아이디어가 아니다. 같은 문제를 다루는 상용 제품과 제도가 이미 여럿 있으며 조사노트 §E-3에 전수 기재했다. 공통점은 전부 계좌라는 값을 검증한다는 것이다.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3. 기존 제품·제도와 검증 대상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87221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111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있는 것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검증하는가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계정 탈취 + 동일 국가·법인명 케이스에서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Proofpoint · Trend Micro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도메인 · 문체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도메인이 진짜라 통과한다. 애초에 송금을 막지 못한다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Trustpair · Eftsure · Trustmi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벤더 마스터 계좌 이력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변경은 감지하나 정당/사기를 못 가른다. ERP 연동 전제(대기업)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iPiD · EU VoP (2025-10 법정)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↔ 계좌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법인명으로 계좌를 열면 통과한다. EU 역내 유로 한정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 · 우리 수취계좌 사전확인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· 계좌 · BIC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+ 영업점 방문과 사용자 능동 요청이 필요하다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6개 은행 업무 매뉴얼 (2018~)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변경 시 유선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같으나 사람 판단이고 계약서 대조가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지시가 계약 절차를 따랐는가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계약이 정한 경로는 체결 시점에 확정되어 사후에 바꿀 수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58368" y="5138928"/>
            <a:ext cx="5852160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자신의 인정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Eftsure는 사기범이 공급업체의 정확한 법인명으로 계좌를 개설하면 이름 대조가 통과한다고 밝히고 있다. Trustpair는 VoP가 신분 도용을 탐지하지 못한다고 적고 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84848" y="5138928"/>
            <a:ext cx="4745736" cy="1005840"/>
          </a:xfrm>
          <a:prstGeom prst="roundRect">
            <a:avLst>
              <a:gd name="adj" fmla="val 1818"/>
            </a:avLst>
          </a:prstGeom>
          <a:solidFill>
            <a:srgbClr val="F1F1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5138928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값과 경로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 · 수취인명 · 발신 도메인은 전부 사기범이 통제할 수 있는 값이다. 계약서 §Notices·§Amendment는 그렇지 않다.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docs/00_조사노트.md §E-3 (경쟁 지형 7종 + EU 법정 제도 + 국내 은행 2곳) · 4대 은행 전수 확인 결과 계약서 자동 대조 구현 0건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이미 지시했고, 서류는 이미 오고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5349240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44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금융감독원 → 전 은행 지시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수취인 국가와 수취은행 소재국이 다르거나 계좌번호가 평소와 다른 경우, 다시 확인하는 절차를 거치도록 지시했다. 본 과제의 S9가 이 항목에 직접 대응한다.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335024"/>
            <a:ext cx="5175504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1444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외국환거래법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11112" y="173736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10만 달러 초과 송금은 계약서 등 지급 사유 입증 서류를 제출해야 한다. 즉 은행은 판정에 필요한 원본 문서를 이미 확보하고 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962656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2962656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구간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은행은 그 계약서로 “정당한 거래 목적인가”(자금세탁 방지)를 확인한다. 그런데 계약서가 정한 상대방 · 결제조건 · 계좌 변경 절차와 실제 송금 신청이 일치하는지는 확인하지 않는다. 제도가 요구하는 것과 은행이 실제로 확인하는 것 사이에 이 구간이 비어 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4114800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4. 도입 조건 비교 — 경쟁 제품이 먼저 갖춰야 하는 것과 본 과제가 쓰는 것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370832"/>
          <a:ext cx="108722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120640"/>
                <a:gridCol w="39684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 조건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원천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벤더 마스터 연동 / 은행 간 이름·계좌 조회 인프라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법정 제출 계약서 — 이미 제출된다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행동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영업점 방문 · 능동적 조회 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송금 신청 흐름에 내장된다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내부 연동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 이력 DB · 벤더 마스터 접근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계약서와 신청 폼 필드만 사용한다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 제출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별도 등록·검증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58368" y="605332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서류는 이미 온다. 지금은 아무도 읽지 않을 뿐이다.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지시 (KBS 보도) · 외국환거래규정 지급증빙서류 제출 의무 · docs/00_조사노트.md §E-6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계좌라는 값이 아니라, 그 값이 온 경로를 대조한다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제출된 계약서 (2023-04-11 체결)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36192"/>
            <a:ext cx="5349240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286000" y="166420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BAUER GmbH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86000" y="201168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Stuttgart, Germany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결제조건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86000" y="23591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Irrevocable L/C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§14 변경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86000" y="2706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“서면 합의로만”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298448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송금 신청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55080" y="1536192"/>
            <a:ext cx="5175504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수취계좌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82712" y="16642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LT12 3250 **** 47 (리투아니아)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송금방식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82712" y="201168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T/T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1112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 지시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235915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82712" y="2706624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 120,000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34670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5. 대조 결과 — 두 문서에서 직접 나오는 사실만 기술한다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2216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03920"/>
                <a:gridCol w="14996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§14는 계좌 변경을 서면 합의로 제한하는데 이번 지시는 이메일 한 통이다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상대방은 독일인데 수취계좌 개설국이 리투아니아다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계약은 L/C 결제인데 이번엔 T/T다 — 은행의 지급 보증이 사라진다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8368" y="5120640"/>
            <a:ext cx="10872216" cy="603504"/>
          </a:xfrm>
          <a:prstGeom prst="roundRect">
            <a:avLst>
              <a:gd name="adj" fmla="val 3030"/>
            </a:avLst>
          </a:prstGeom>
          <a:solidFill>
            <a:srgbClr val="F1F1EF"/>
          </a:solidFill>
          <a:ln/>
        </p:spPr>
      </p:sp>
      <p:sp>
        <p:nvSpPr>
          <p:cNvPr id="29" name="Text 26"/>
          <p:cNvSpPr/>
          <p:nvPr/>
        </p:nvSpPr>
        <p:spPr>
          <a:xfrm>
            <a:off x="932688" y="5120640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first-match → BLOCK_PENDING</a:t>
            </a:r>
            <a:pPr indent="0" marL="0"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규칙 테이블이 정한 결과다. 확률도 점수도 개입하지 않는다. 판정이 아니라 대조이므로 사용자에게 보이는 문장이 곧 규칙의 조건이다.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58368" y="5870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주소는 위조할 수 있어도, 3년 전 계약서의 “변경은 양측 서면 합의로” 는 위조할 수 없다. §Notices·§Amendment는 계약 체결 시점에 확정되기 때문이다.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데모 시나리오 D1 · docs/01_MVP제안서.md §7 (데모 10종) · 실제 판정 경로는 tests/test_e2e_scenarios.py 에 고정돼 있다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— 판정 권한이 LLM 밖에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처리 흐름 — 초록 구간이 등급을 정한다 (결정론)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+ 신청 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31136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05456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05456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ContractFacts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78224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352544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2544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대조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52544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산출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25312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99632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L4 규칙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99632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0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046720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L5 근거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46720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문장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619488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89380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9380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89380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 / 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" y="23042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6. 층별 구현 상태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42032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  <a:gridCol w="118872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PII · 프롬프트 인젝션 검문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판독 — ContractFacts + evidence_spans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허용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↔ 송금 대조 — S16·S9·S10·S11·S12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보조 신호 — M1·M2 구현 / M6·M8 미주입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 11개 first-match + 도달성 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서술 — 현재는 규칙의 결정론 문장 사용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HITL 보류 게이트 — 승인 원장 검증 후 송금 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7973568" y="2304288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불변식 — 테스트로 강제한다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973568" y="2542032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4" name="Shape 31"/>
          <p:cNvSpPr/>
          <p:nvPr/>
        </p:nvSpPr>
        <p:spPr>
          <a:xfrm>
            <a:off x="7973568" y="2542032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2578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INV-5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174736" y="273405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불가를 통과로 처리하지 않는다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174736" y="289864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실패 → R1 UNKNOWN 보류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973568" y="3163824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9" name="Shape 36"/>
          <p:cNvSpPr/>
          <p:nvPr/>
        </p:nvSpPr>
        <p:spPr>
          <a:xfrm>
            <a:off x="7973568" y="3163824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200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INV-6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174736" y="3355848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최종 등급을 정하지 않는다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174736" y="352044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노드가 kind: deterministic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973568" y="3785616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44" name="Shape 41"/>
          <p:cNvSpPr/>
          <p:nvPr/>
        </p:nvSpPr>
        <p:spPr>
          <a:xfrm>
            <a:off x="7973568" y="3785616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5" name="Text 42"/>
          <p:cNvSpPr/>
          <p:nvPr/>
        </p:nvSpPr>
        <p:spPr>
          <a:xfrm>
            <a:off x="8174736" y="38221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INV-8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8174736" y="397764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주장은 문서 구간에 매핑된다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174736" y="414223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미매핑이면 값을 버린다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973568" y="4407408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F7F6F3"/>
          </a:solidFill>
          <a:ln/>
        </p:spPr>
      </p:sp>
      <p:sp>
        <p:nvSpPr>
          <p:cNvPr id="49" name="Text 46"/>
          <p:cNvSpPr/>
          <p:nvPr/>
        </p:nvSpPr>
        <p:spPr>
          <a:xfrm>
            <a:off x="8174736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INV-2·3·7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174736" y="459943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없이 통과 불가 · 1회용 · 건·계좌 결박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174736" y="476402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만 받아 원장 조회 — T1~T5·T10 통과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8368" y="50840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인젝션 3중 방어 — 계약서 · 인보이스 · 메일 본문은 전부 사기범이 작성할 수 있는 입력이다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658368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4" name="Text 51"/>
          <p:cNvSpPr/>
          <p:nvPr/>
        </p:nvSpPr>
        <p:spPr>
          <a:xfrm>
            <a:off x="87782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판정 권한이 스키마에 없다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877824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스키마에 verdict · score · approve 필드가 존재하지 않는다. strict json_schema 이므로 스키마 이탈이 API 레벨에서 차단된다.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334256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7" name="Text 54"/>
          <p:cNvSpPr/>
          <p:nvPr/>
        </p:nvSpPr>
        <p:spPr>
          <a:xfrm>
            <a:off x="45537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지시와 데이터를 분리한다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553712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본문은 system 이 아니라 user 메시지의 구분자 안에만 들어간다. 지시와 검사 대상이 같은 층에 놓이지 않는다.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8010144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60" name="Text 57"/>
          <p:cNvSpPr/>
          <p:nvPr/>
        </p:nvSpPr>
        <p:spPr>
          <a:xfrm>
            <a:off x="8229600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근거를 원문과 대조한다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8229600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반환된 근거 구간이 계약서 원문에 없으면 그 값을 버린다. 인젝션이 노리는 것은 등급이 아니라 추출값이기 때문이다.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workflows/kb-payee-guard.workflow.yaml (12 nodes) · docs/02_기술명세서.md §2·§10 · INV-1(판정 엔진 외부 호출 금지)은 순수 함수라 사실상 만족하나 AST 검사기는 미구현이다 · L5가 설계 단계인 것은 현재로선 이점이다 — 판정도 근거 문장도 전부 결정론이라 삽입된 지시가 사용자 설명까지 오염시킬 경로가 없다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— 조건이 곧 사용자에게 보이는 문장이다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7. 규칙 테이블 발췌 — 평가 순서 R1 → … → R9 · R11 → R0, first-match wins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36192"/>
          <a:ext cx="70408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828032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부재 또는 추출 실패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UNKNOWN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고위험 — 계약 절차 조항이 허용하지 않은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 — 계약 당사자 소재국 ≠ 수취계좌 개설국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고위험 방향 — L/C → T/T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중위험 — 절차 조항 부재 또는 인보이스 단독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없음이나 동봉 메일이 수상 (M1 · M2)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S5 — FATF 고위험 관할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전부 일치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58368" y="4480560"/>
            <a:ext cx="7040880" cy="1060704"/>
          </a:xfrm>
          <a:prstGeom prst="roundRect">
            <a:avLst>
              <a:gd name="adj" fmla="val 1724"/>
            </a:avLst>
          </a:prstGeom>
          <a:solidFill>
            <a:srgbClr val="FDEBEC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4480560"/>
            <a:ext cx="32004" cy="106070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80560"/>
            <a:ext cx="652881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R10을 제거한 경위 — 측정이 설계 결함을 찾았다
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R10은 S1(신규 계좌)만으로 HOLD를 냈고, 첫 e2e 실행에서 정당한 계좌 변경을 100% 차단했다. 그런데 기술명세서 §4.3은 스스로 “이력은 트리거일 뿐 판별자가 아니다” 라고 적어두고 있었다. 산문은 옳았고 코드가 그 원칙을 어기고 있었다. 규칙을 제거하고 제거 사유를 §4.4-bis에 남겼다.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73568" y="128016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8. 판정 축 신호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73568" y="1536192"/>
          <a:ext cx="3557016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9864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 출처 ≠ 계약이 정한 절차 (§Notices·§Amendment)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당사자 소재국 ≠ 수취계좌 개설국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결제조건 ≠ 실제 송금방식 (방향 구분)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수익자명 ≠ 수취인명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수취계좌 — 트리거이며 판별자가 아니다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7973568" y="4315968"/>
            <a:ext cx="3557016" cy="1225296"/>
          </a:xfrm>
          <a:prstGeom prst="roundRect">
            <a:avLst>
              <a:gd name="adj" fmla="val 1493"/>
            </a:avLst>
          </a:prstGeom>
          <a:solidFill>
            <a:srgbClr val="F7F6F3"/>
          </a:solidFill>
          <a:ln/>
        </p:spPr>
      </p:sp>
      <p:sp>
        <p:nvSpPr>
          <p:cNvPr id="14" name="Text 10"/>
          <p:cNvSpPr/>
          <p:nvPr/>
        </p:nvSpPr>
        <p:spPr>
          <a:xfrm>
            <a:off x="8193024" y="4315968"/>
            <a:ext cx="3154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규칙을 기계로 차단한다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도달성 전수 검사(T15)가 규칙 11개 각각에 도달 가능한 신호 조합이 있는지 확인한다. 단 T15가 보는 것은 조합의 도달성이고, 실제 입력이 그 조합을 만드는지는 아직 자동 검사가 없다 (§11.3).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src/kb_payee_guard/rules.py · signals.py · docs/02_기술명세서.md §4.2·§4.4·§4.4-bis · 규칙 전문 11개는 명세서 §4.4 참조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기술 스택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의존을 최소화하고, 재현성을 코드 구조로 확보했다. 심사자가 비공개 저장소 없이 그대로 실행할 수 있어야 한다는 것이 설계 제약이었다.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60934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11. 런타임 · 실행 환경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런타임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Python 3.12 · 코어는 표준 라이브러리만 · 외부 의존성 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호출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gpt-4o-mini · temperature 0 · strict json_schema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격리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 주입 — 네트워크·API 키 없이 122건이 결정론으로 실행된다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aithor_agent_framework.guard.RuntimeGuard 3중 검문 (입력·도구결과·출력)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실행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_provider_fallback.py — 프레임워크 부재 시 stdlib urllib 최소 구현으로 대체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워크플로우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nodes · kind: deterministic 이 판정 노드에 LLM을 넣지 못하게 강제한다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컴플라이언스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controls · 규제 근거 2건 매핑 · 공격 테스트 16 · 데모 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3159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12. 추출 품질을 지탱하는 장치 — 전부 구현 중 발견한 실패에서 나왔다</a:t>
            </a:r>
            <a:endParaRPr lang="en-US" sz="9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553712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막는가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select_regions()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탐색은 정규식, 판단만 LLM. 60K 상한 초과 문서에서 조항이 잘려나가던 것을 막는다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 게이트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조항 원문 없이 “서면 요구” 라고 하면 그 값을 믿지 않는다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ISO 3166-1 검증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‘Redmond, WA’ 를 국가코드 WA 로 내던 것을 차단한다 (S9 오작동 방지)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구간 대조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반환된 evidence_span 이 원문에 없으면 값을 버린다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국문 검출기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detect_clauses_kr.py — 조 제목 구획자 7형태 수용 (측정용, src 미변경)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7973568" y="1609344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 (발췌)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973568" y="1847088"/>
            <a:ext cx="3557016" cy="2322576"/>
          </a:xfrm>
          <a:prstGeom prst="roundRect">
            <a:avLst>
              <a:gd name="adj" fmla="val 787"/>
            </a:avLst>
          </a:prstGeom>
          <a:solidFill>
            <a:srgbClr val="F7F6F3"/>
          </a:solidFill>
          <a:ln/>
        </p:spPr>
      </p:sp>
      <p:sp>
        <p:nvSpPr>
          <p:cNvPr id="13" name="Text 9"/>
          <p:cNvSpPr/>
          <p:nvPr/>
        </p:nvSpPr>
        <p:spPr>
          <a:xfrm>
            <a:off x="8193024" y="1956816"/>
            <a:ext cx="31546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ContractFacts {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counterparty_name
  counterparty_country
  payment_terms
  amendment_clause_
    requires_written
  notice_channel_types[]
  notice_addresses[]
  evidence_spans[]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verdict · score · approve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필드 자체가 없다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73568" y="4315968"/>
            <a:ext cx="3557016" cy="877824"/>
          </a:xfrm>
          <a:prstGeom prst="roundRect">
            <a:avLst>
              <a:gd name="adj" fmla="val 2083"/>
            </a:avLst>
          </a:prstGeom>
          <a:solidFill>
            <a:srgbClr val="F7F6F3"/>
          </a:solidFill>
          <a:ln/>
        </p:spPr>
      </p:sp>
      <p:sp>
        <p:nvSpPr>
          <p:cNvPr id="15" name="Text 11"/>
          <p:cNvSpPr/>
          <p:nvPr/>
        </p:nvSpPr>
        <p:spPr>
          <a:xfrm>
            <a:off x="8193024" y="4315968"/>
            <a:ext cx="3154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notice_channel_types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 | fax | email | courier | in_person | other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수단을 지정하지 않았으면 빈 배열 — 추측해서 채우지 않는다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973568" y="5340096"/>
            <a:ext cx="3557016" cy="950976"/>
          </a:xfrm>
          <a:prstGeom prst="roundRect">
            <a:avLst>
              <a:gd name="adj" fmla="val 1923"/>
            </a:avLst>
          </a:prstGeom>
          <a:solidFill>
            <a:srgbClr val="EDF3EC"/>
          </a:solidFill>
          <a:ln/>
        </p:spPr>
      </p:sp>
      <p:sp>
        <p:nvSpPr>
          <p:cNvPr id="17" name="Shape 13"/>
          <p:cNvSpPr/>
          <p:nvPr/>
        </p:nvSpPr>
        <p:spPr>
          <a:xfrm>
            <a:off x="7973568" y="5340096"/>
            <a:ext cx="32004" cy="95097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8" name="Text 14"/>
          <p:cNvSpPr/>
          <p:nvPr/>
        </p:nvSpPr>
        <p:spPr>
          <a:xfrm>
            <a:off x="8193024" y="5340096"/>
            <a:ext cx="31546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제출본은 단독으로 돈다
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zip을 풀어 심사자 환경을 재현했더니 프레임워크 상대경로 의존으로 13건이 깨졌다. 비공개 저장소는 클론할 수 없으므로 폴백을 넣어 전부 통과시켰다. 현재 122건이다.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 (models · signals · rules · extract · llm_extract · evaluate · _provider_fallback) · docs/02_기술명세서.md §4.1·§10 · 커밋 3b2e796 · 7ffdc8e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 · 실측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추출 정확도가 시스템 정확도의 상한이다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[계약이 허용한 경로] ∩ [이번 지시가 온 경로]를 계산한다. 오른쪽은 은행이 신청 폼으로 묻지만 왼쪽은 계약서 자연어에만 있다. 그 추출 품질이 최종 판정을 지배한다.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9. 조항 추출 정확도 — 실물 계약서 30건 전수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71.4%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56832" y="1664208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10. 게이트 성능 — 30건 × 시나리오 5 = 150건 전수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6832" y="1920240"/>
          <a:ext cx="487375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BEC 탐지율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정상거래 오탐률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gold (상한)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93.3%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58368" y="3127248"/>
            <a:ext cx="10872216" cy="786384"/>
          </a:xfrm>
          <a:prstGeom prst="roundRect">
            <a:avLst>
              <a:gd name="adj" fmla="val 2326"/>
            </a:avLst>
          </a:prstGeom>
          <a:solidFill>
            <a:srgbClr val="F1F1EF"/>
          </a:solidFill>
          <a:ln/>
        </p:spPr>
      </p:sp>
      <p:sp>
        <p:nvSpPr>
          <p:cNvPr id="12" name="Text 8"/>
          <p:cNvSpPr/>
          <p:nvPr/>
        </p:nvSpPr>
        <p:spPr>
          <a:xfrm>
            <a:off x="932688" y="3127248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정규식은 해석에서 지기 전에 조항을 찾지 못한다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오답 21건 중 19건이 미탐지다. 계약서마다 조항의 제목 · 번호 체계 · 배치가 다르고 본문에 섞여 있기 때문이다. 정규식으로 추출하면 공격의 83%가 통과해 게이트가 사실상 꺼진다. 규칙 기반으로는 열리지 않던 구간이다.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58368" y="4041648"/>
            <a:ext cx="5669280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4041648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사각지대 — 위조 수정합의서는 통과한다 (30건 전건 미탐)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지시의 경로를 보지 문서의 진위를 보지 않으므로 정당한 변경과 입력이 동일하다. 제외하면 탐지율이 100%가 되지만, 심사에서 “위조하면 어떻게 되느냐” 를 물었을 때 답이 없다. 통과할 것을 알면서 평가셋에 넣었다.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656832" y="4041648"/>
            <a:ext cx="4873752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7" name="Shape 13"/>
          <p:cNvSpPr/>
          <p:nvPr/>
        </p:nvSpPr>
        <p:spPr>
          <a:xfrm>
            <a:off x="6656832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8" name="Text 14"/>
          <p:cNvSpPr/>
          <p:nvPr/>
        </p:nvSpPr>
        <p:spPr>
          <a:xfrm>
            <a:off x="6912864" y="4041648"/>
            <a:ext cx="43616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60건은 전부 S16이 냈다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150건 전수 신호별 집계에서 S10 · S11 · S12 · S5는 발화 0건이고, 매칭된 규칙은 R0 · R2 · R7뿐이다. 결제조건을 바꾸는 시나리오가 없어 자극되지 않았다 — 설계 논증은 있으나 측정은 없다.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58368" y="532180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오탐률 0.0%는 오탐을 발견한 뒤 규칙(R10)을 제거해 얻은 값이며, 정상 시나리오 2종에 대한 값이다. 실제 사기 탐지 성능이 아니라 설계 의도대로 동작하는지의 검사다.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docs/05_베이스라인A_실측.md · docs/06_E2E_탐지율_오탐률.md §5·§5-bis · 합격선(재현율 ≥90%)은 측정 전에 고정했고 이후 조정하지 않았다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것과 모르는 것을 나눠 적는다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측정했다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17904"/>
            <a:ext cx="5349240" cy="3291840"/>
          </a:xfrm>
          <a:prstGeom prst="roundRect">
            <a:avLst>
              <a:gd name="adj" fmla="val 556"/>
            </a:avLst>
          </a:prstGeom>
          <a:solidFill>
            <a:srgbClr val="EDF3EC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517904"/>
            <a:ext cx="32004" cy="32918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719072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조항 존재율 — 미국 상용 실물 151건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영문 실물 62건 · 국문 표준서식 49건 추가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A/C — 실물 30건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탐지율 · 오탐률 — 150건 전수 3경로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신호별 발화 집계 — 150건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도달성 — 11개 전수 (T15)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122건 · 외부 API 없이 1초 미만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55080" y="1280160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55080" y="1517904"/>
            <a:ext cx="5175504" cy="3291840"/>
          </a:xfrm>
          <a:prstGeom prst="roundRect">
            <a:avLst>
              <a:gd name="adj" fmla="val 556"/>
            </a:avLst>
          </a:prstGeom>
          <a:solidFill>
            <a:srgbClr val="FDEBE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55080" y="1517904"/>
            <a:ext cx="32004" cy="329184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19072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사기 탐지 성능 — 자체 설계 시나리오다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· S11 · S12의 탐지 기여 — 발화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국문 실물 계약서 조항 존재율 — 표본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은행 트래픽의 정상 거래 오탐률 (R-8)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위조 수정합의서는 막지 못한다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거래에서 L/C→T/T 전환의 기저율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전자화 여부 — 종이면 OCR 전처리 필요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2216" cy="658368"/>
          </a:xfrm>
          <a:prstGeom prst="roundRect">
            <a:avLst>
              <a:gd name="adj" fmla="val 2778"/>
            </a:avLst>
          </a:prstGeom>
          <a:solidFill>
            <a:srgbClr val="F7F6F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95604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표본을 넓혔더니 결과가 불리해졌다.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실물 62건 재측정에서 §Notices 보유율은 51.6%로 미국 상용(84.8%)의 6할이었다. 국문 실물은 DART · 정보공개포털 · 나라장터를 실제로 시도했으나 공개 경로에서 계약서 본문에 닿지 못했고, 그 시도 경로와 응답을 07번 문서에 기록했다.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5705856"/>
            <a:ext cx="10872216" cy="566928"/>
          </a:xfrm>
          <a:prstGeom prst="roundRect">
            <a:avLst>
              <a:gd name="adj" fmla="val 3226"/>
            </a:avLst>
          </a:prstGeom>
          <a:solidFill>
            <a:srgbClr val="F1F1EF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705856"/>
            <a:ext cx="10323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측정이 틀렸던 경위까지 기록했다 — </a:t>
            </a:r>
            <a:pPr indent="0" marL="0"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 set 라벨 8건을 사후 정정했다. 모델의 불일치를 모델의 오류로 단정했으면 틀린 숫자가 그대로 제출됐을 것이다.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docs/03_R7_측정.md §3-bis·§4 · docs/05 §1 · docs/06 §5 · docs/07_국문실물_확보시도.md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계획의 구체성 · 기술 실현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계획과 실현 가능성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제출 시점의 완료 범위는 6~9장에 있다. 본 장은 남은 구간을 단계로 나누고 각 단계의 산출물과 완료 판정 기준을 적는다. 판정 기준은 전부 테스트로 확인 가능한 형태로 잡았다.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15727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13. 단계별 계획 — 1단계 완료(8/2) · 2~5단계 본선일(9/2)까지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완료 판정 기준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✅ HITL 보류 게이트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승인 원장  —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게이트 진입점 · 승인 원장 스키마 (1회용 · 건 결박 · 계좌 지문 · TTL)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없이 통과·재사용·전용·계좌 바꿔치기·TTL 경과가 전부 차단된다 → 2026-08-02 구현, 공격 테스트 T1~T5·T10·T11 통과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L5 근거 서술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서술 층 + 근거 매핑 검사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문장의 모든 주장이 문서 구간에 매핑되고, 미매핑이면 실패한다 (INV-8)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L3 보조 신호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 · M7 · M8 LLM 축 주입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M6·M8 주입 후 R9가 평가셋에서 실제로 발화한다 (현재 0건)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송금 신청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시뮬레이터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신청 폼 재현 UI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폼 입력만으로 판정까지 도달한다 — 사용자 추가 행동 0을 화면으로 증명한다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평가셋 확장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시나리오 보강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attack_terms_switch 등 시나리오 추가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· S11 · S12의 탐지 기여가 측정된다 (현재 발화 0건) · 15 controls 매핑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2428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방법 — 심사자 환경에서 API 키 없이 실행된다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8368" y="4480560"/>
            <a:ext cx="7040880" cy="1188720"/>
          </a:xfrm>
          <a:prstGeom prst="roundRect">
            <a:avLst>
              <a:gd name="adj" fmla="val 1538"/>
            </a:avLst>
          </a:prstGeom>
          <a:solidFill>
            <a:srgbClr val="F7F6F3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590288"/>
            <a:ext cx="6565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python3.12 -m unittest discover -s tests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 122 tests — OK   (macOS 실측 0.23~0.39초)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scripts/run_baselines.py --with-c   → 표 9 재현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scripts/run_e2e.py --extract C      → 표 10 재현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973568" y="1810512"/>
            <a:ext cx="3557016" cy="1188720"/>
          </a:xfrm>
          <a:prstGeom prst="roundRect">
            <a:avLst>
              <a:gd name="adj" fmla="val 1538"/>
            </a:avLst>
          </a:prstGeom>
          <a:solidFill>
            <a:srgbClr val="FBF3DB"/>
          </a:solidFill>
          <a:ln/>
        </p:spPr>
      </p:sp>
      <p:sp>
        <p:nvSpPr>
          <p:cNvPr id="13" name="Shape 10"/>
          <p:cNvSpPr/>
          <p:nvPr/>
        </p:nvSpPr>
        <p:spPr>
          <a:xfrm>
            <a:off x="7973568" y="1810512"/>
            <a:ext cx="32004" cy="11887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1"/>
          <p:cNvSpPr/>
          <p:nvPr/>
        </p:nvSpPr>
        <p:spPr>
          <a:xfrm>
            <a:off x="8193024" y="181051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게이트를 먼저 만들었나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막는 것을 먼저 만들고 판단하는 것을 나중에 붙인다. 안전 불변식 없이 판정 로직을 쌓으면 나중에 게이트를 끼울 때 우회 경로가 남는다. 계획 1단계를 예선 기간에 실제로 완료했다.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973568" y="3145536"/>
            <a:ext cx="3557016" cy="1316736"/>
          </a:xfrm>
          <a:prstGeom prst="roundRect">
            <a:avLst>
              <a:gd name="adj" fmla="val 1389"/>
            </a:avLst>
          </a:prstGeom>
          <a:solidFill>
            <a:srgbClr val="EDF3EC"/>
          </a:solidFill>
          <a:ln/>
        </p:spPr>
      </p:sp>
      <p:sp>
        <p:nvSpPr>
          <p:cNvPr id="16" name="Shape 13"/>
          <p:cNvSpPr/>
          <p:nvPr/>
        </p:nvSpPr>
        <p:spPr>
          <a:xfrm>
            <a:off x="7973568" y="3145536"/>
            <a:ext cx="32004" cy="131673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7" name="Text 14"/>
          <p:cNvSpPr/>
          <p:nvPr/>
        </p:nvSpPr>
        <p:spPr>
          <a:xfrm>
            <a:off x="8193024" y="3145536"/>
            <a:ext cx="31546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 가능성의 근거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내부 API 의존 0 · 코어는 표준 라이브러리만 · 비공개 프레임워크 없이 단독 실행.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zip을 풀어 심사자 환경을 재현했고, 그때 드러난 13건의 실패를 고쳤다. 현재 122건 전부 통과한다.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973568" y="4608576"/>
            <a:ext cx="3557016" cy="1060704"/>
          </a:xfrm>
          <a:prstGeom prst="roundRect">
            <a:avLst>
              <a:gd name="adj" fmla="val 1724"/>
            </a:avLst>
          </a:prstGeom>
          <a:solidFill>
            <a:srgbClr val="F7F6F3"/>
          </a:solidFill>
          <a:ln/>
        </p:spPr>
      </p:sp>
      <p:sp>
        <p:nvSpPr>
          <p:cNvPr id="19" name="Text 16"/>
          <p:cNvSpPr/>
          <p:nvPr/>
        </p:nvSpPr>
        <p:spPr>
          <a:xfrm>
            <a:off x="8193024" y="4608576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시점 완료 범위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 · L2 대조 · L4 규칙 11개 · HITL 승인 게이트 + 원장 · 인젝션 3중 방어 · 평가 하네스. 테스트 122건이 외부 API 없이 1초 안에 완주한다.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docs/01_MVP제안서.md §9-1 완료분 / §9-2 본선 잔여 · README 로드맵 P1~P7 · 완료 판정 기준의 근거는 docs/02_기술명세서.md §11 (공격 테스트) 및 §10 (불변식)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2026-08-02T09:12:20Z</dcterms:created>
  <dcterms:modified xsi:type="dcterms:W3CDTF">2026-08-02T09:12:20Z</dcterms:modified>
</cp:coreProperties>
</file>